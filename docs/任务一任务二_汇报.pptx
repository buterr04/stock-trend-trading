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370832"/>
            <a:ext cx="12191695" cy="32004"/>
          </a:xfrm>
          <a:prstGeom prst="rect">
            <a:avLst/>
          </a:prstGeom>
          <a:solidFill>
            <a:srgbClr val="6E8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0" lang="zh-CN">
                <a:solidFill>
                  <a:srgbClr val="9DB4E4"/>
                </a:solidFill>
                <a:latin typeface="Noto Sans SC"/>
                <a:ea typeface="Noto Sans SC"/>
              </a:rPr>
              <a:t>小组作业 · 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10515600" cy="1737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4400" b="1" lang="zh-CN">
                <a:solidFill>
                  <a:srgbClr val="FFFFFF"/>
                </a:solidFill>
                <a:latin typeface="Noto Sans SC"/>
                <a:ea typeface="Noto Sans SC"/>
              </a:rPr>
              <a:t>股票未来趋势三分类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3000" b="1" lang="zh-CN">
                <a:solidFill>
                  <a:srgbClr val="CFDBF5"/>
                </a:solidFill>
                <a:latin typeface="Noto Sans SC"/>
                <a:ea typeface="Noto Sans SC"/>
              </a:rPr>
              <a:t>特征分析工程与分类模型训练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51560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0" lang="zh-CN">
                <a:solidFill>
                  <a:srgbClr val="B9C8EA"/>
                </a:solidFill>
                <a:latin typeface="Noto Sans SC"/>
                <a:ea typeface="Noto Sans SC"/>
              </a:rPr>
              <a:t>任务一　特征分析与工程　　·　　任务二　基于已有标签的分类模型训练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0" lang="zh-CN">
                <a:solidFill>
                  <a:srgbClr val="8C9FD0"/>
                </a:solidFill>
                <a:latin typeface="Noto Sans SC"/>
                <a:ea typeface="Noto Sans SC"/>
              </a:rPr>
              <a:t>A股沪深主板 · 2016–2025 · 60 时间步 × 33 维特征 · 下跌 / 震荡 / 拉伸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4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6012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 lang="zh-CN">
                <a:solidFill>
                  <a:srgbClr val="2B4C9B"/>
                </a:solidFill>
                <a:latin typeface="Noto Sans SC"/>
                <a:ea typeface="Noto Sans SC"/>
              </a:rPr>
              <a:t>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 lang="zh-CN">
                <a:solidFill>
                  <a:srgbClr val="1A1A2E"/>
                </a:solidFill>
                <a:latin typeface="Noto Sans SC"/>
                <a:ea typeface="Noto Sans SC"/>
              </a:rPr>
              <a:t>作业背景与数据说明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100" b="0" lang="zh-CN">
                <a:solidFill>
                  <a:srgbClr val="5A5A6E"/>
                </a:solidFill>
                <a:latin typeface="Noto Sans SC"/>
                <a:ea typeface="Noto Sans SC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349240" cy="15727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0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82296" cy="1572768"/>
          </a:xfrm>
          <a:prstGeom prst="rect">
            <a:avLst/>
          </a:prstGeom>
          <a:solidFill>
            <a:srgbClr val="2B4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63624"/>
            <a:ext cx="4846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 lang="zh-CN">
                <a:solidFill>
                  <a:srgbClr val="2B4C9B"/>
                </a:solidFill>
                <a:latin typeface="Noto Sans SC"/>
                <a:ea typeface="Noto Sans SC"/>
              </a:rPr>
              <a:t>研究对象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65960"/>
            <a:ext cx="4892040" cy="9601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lang="zh-CN">
                <a:solidFill>
                  <a:srgbClr val="5A5A6E"/>
                </a:solidFill>
                <a:latin typeface="Noto Sans SC"/>
                <a:ea typeface="Noto Sans SC"/>
              </a:rPr>
              <a:t>A股沪深主板上市公司股票，时间跨度覆盖 2016–2025 年全部交易日。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417320"/>
            <a:ext cx="5349240" cy="15727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0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417320"/>
            <a:ext cx="82296" cy="1572768"/>
          </a:xfrm>
          <a:prstGeom prst="rect">
            <a:avLst/>
          </a:prstGeom>
          <a:solidFill>
            <a:srgbClr val="2B4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563624"/>
            <a:ext cx="4846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 lang="zh-CN">
                <a:solidFill>
                  <a:srgbClr val="2B4C9B"/>
                </a:solidFill>
                <a:latin typeface="Noto Sans SC"/>
                <a:ea typeface="Noto Sans SC"/>
              </a:rPr>
              <a:t>核心逻辑：横盘突破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1965960"/>
            <a:ext cx="4892040" cy="9601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lang="zh-CN">
                <a:solidFill>
                  <a:srgbClr val="5A5A6E"/>
                </a:solidFill>
                <a:latin typeface="Noto Sans SC"/>
                <a:ea typeface="Noto Sans SC"/>
              </a:rPr>
              <a:t>横盘阶段伴随市场动能持续集聚，释放后易引发显著方向性波动。筛选过去 120 个交易日收盘价波幅 ≤ 30% 的个股作为样本。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154680"/>
            <a:ext cx="5349240" cy="15727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0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154680"/>
            <a:ext cx="82296" cy="1572768"/>
          </a:xfrm>
          <a:prstGeom prst="rect">
            <a:avLst/>
          </a:prstGeom>
          <a:solidFill>
            <a:srgbClr val="2B4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300984"/>
            <a:ext cx="4846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 lang="zh-CN">
                <a:solidFill>
                  <a:srgbClr val="2B4C9B"/>
                </a:solidFill>
                <a:latin typeface="Noto Sans SC"/>
                <a:ea typeface="Noto Sans SC"/>
              </a:rPr>
              <a:t>三分类标签规则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703320"/>
            <a:ext cx="4892040" cy="9601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lang="zh-CN">
                <a:solidFill>
                  <a:srgbClr val="5A5A6E"/>
                </a:solidFill>
                <a:latin typeface="Noto Sans SC"/>
                <a:ea typeface="Noto Sans SC"/>
              </a:rPr>
              <a:t>以横盘后 50 日累计收益率三分类：下跌(0) &lt; -10%；震荡(1) ±10% 以内；拉伸(2) &gt; +10%。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154680"/>
            <a:ext cx="5349240" cy="15727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0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3154680"/>
            <a:ext cx="82296" cy="1572768"/>
          </a:xfrm>
          <a:prstGeom prst="rect">
            <a:avLst/>
          </a:prstGeom>
          <a:solidFill>
            <a:srgbClr val="2B4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3300984"/>
            <a:ext cx="4846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 lang="zh-CN">
                <a:solidFill>
                  <a:srgbClr val="2B4C9B"/>
                </a:solidFill>
                <a:latin typeface="Noto Sans SC"/>
                <a:ea typeface="Noto Sans SC"/>
              </a:rPr>
              <a:t>数据集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703320"/>
            <a:ext cx="4892040" cy="9601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lang="zh-CN">
                <a:solidFill>
                  <a:srgbClr val="5A5A6E"/>
                </a:solidFill>
                <a:latin typeface="Noto Sans SC"/>
                <a:ea typeface="Noto Sans SC"/>
              </a:rPr>
              <a:t>已去极值、标准化的多维技术因子序列（npy），按 7:1:2 划分训练 / 验证 / 测试集。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029200"/>
            <a:ext cx="11155680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1" lang="zh-CN">
                <a:solidFill>
                  <a:srgbClr val="1A1A2E"/>
                </a:solidFill>
                <a:latin typeface="Noto Sans SC"/>
                <a:ea typeface="Noto Sans SC"/>
              </a:rPr>
              <a:t>样本分布（总体 106,655）：</a:t>
            </a:r>
            <a:r>
              <a:rPr sz="1300" b="0" lang="zh-CN">
                <a:solidFill>
                  <a:srgbClr val="5A5A6E"/>
                </a:solidFill>
                <a:latin typeface="Noto Sans SC"/>
                <a:ea typeface="Noto Sans SC"/>
              </a:rPr>
              <a:t>下跌 31,497（29.5%）　·　震荡 37,867（35.5%）　·　拉伸 37,291（35.0%）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00" b="0" lang="zh-CN">
                <a:solidFill>
                  <a:srgbClr val="5A5A6E"/>
                </a:solidFill>
                <a:latin typeface="Noto Sans SC"/>
                <a:ea typeface="Noto Sans SC"/>
              </a:rPr>
              <a:t>33 维输入 = 9 个基础量价因子（开高低收、涨跌幅、成交量、成交额、换手率、振幅）+ 22 个技术因子 + 2 个市场环境因子（CSI300 / CSI500 日收益率）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4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6012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 lang="zh-CN">
                <a:solidFill>
                  <a:srgbClr val="2B4C9B"/>
                </a:solidFill>
                <a:latin typeface="Noto Sans SC"/>
                <a:ea typeface="Noto Sans SC"/>
              </a:rPr>
              <a:t>TASK 1 · FEATURE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 lang="zh-CN">
                <a:solidFill>
                  <a:srgbClr val="1A1A2E"/>
                </a:solidFill>
                <a:latin typeface="Noto Sans SC"/>
                <a:ea typeface="Noto Sans SC"/>
              </a:rPr>
              <a:t>数据概览：样本与标签分布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100" b="0" lang="zh-CN">
                <a:solidFill>
                  <a:srgbClr val="5A5A6E"/>
                </a:solidFill>
                <a:latin typeface="Noto Sans SC"/>
                <a:ea typeface="Noto Sans SC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6126480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0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abel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00200"/>
            <a:ext cx="5669280" cy="340156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903720" y="1371600"/>
            <a:ext cx="4800600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0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78040" y="1572768"/>
            <a:ext cx="4297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 lang="zh-CN">
                <a:solidFill>
                  <a:srgbClr val="2B4C9B"/>
                </a:solidFill>
                <a:latin typeface="Noto Sans SC"/>
                <a:ea typeface="Noto Sans SC"/>
              </a:rPr>
              <a:t>关键事实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2011680"/>
            <a:ext cx="4343400" cy="4206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 lang="zh-CN">
                <a:solidFill>
                  <a:srgbClr val="2B4C9B"/>
                </a:solidFill>
                <a:latin typeface="Noto Sans SC"/>
                <a:ea typeface="Noto Sans SC"/>
              </a:rPr>
              <a:t>▪ </a:t>
            </a:r>
            <a:r>
              <a:rPr sz="1250" b="1" lang="zh-CN">
                <a:solidFill>
                  <a:srgbClr val="1A1A2E"/>
                </a:solidFill>
                <a:latin typeface="Noto Sans SC"/>
                <a:ea typeface="Noto Sans SC"/>
              </a:rPr>
              <a:t>样本形状：</a:t>
            </a:r>
            <a:r>
              <a:rPr sz="1250" b="0" lang="zh-CN">
                <a:solidFill>
                  <a:srgbClr val="5A5A6E"/>
                </a:solidFill>
                <a:latin typeface="Noto Sans SC"/>
                <a:ea typeface="Noto Sans SC"/>
              </a:rPr>
              <a:t>每个样本为 60 个时间步 × 33 维特征通道的序列。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 lang="zh-CN">
                <a:solidFill>
                  <a:srgbClr val="2B4C9B"/>
                </a:solidFill>
                <a:latin typeface="Noto Sans SC"/>
                <a:ea typeface="Noto Sans SC"/>
              </a:rPr>
              <a:t>▪ </a:t>
            </a:r>
            <a:r>
              <a:rPr sz="1250" b="1" lang="zh-CN">
                <a:solidFill>
                  <a:srgbClr val="1A1A2E"/>
                </a:solidFill>
                <a:latin typeface="Noto Sans SC"/>
                <a:ea typeface="Noto Sans SC"/>
              </a:rPr>
              <a:t>数据规模：</a:t>
            </a:r>
            <a:r>
              <a:rPr sz="1250" b="0" lang="zh-CN">
                <a:solidFill>
                  <a:srgbClr val="5A5A6E"/>
                </a:solidFill>
                <a:latin typeface="Noto Sans SC"/>
                <a:ea typeface="Noto Sans SC"/>
              </a:rPr>
              <a:t>训练 74,656 / 验证 10,669 / 测试 21,330（7:1:2）。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 lang="zh-CN">
                <a:solidFill>
                  <a:srgbClr val="2B4C9B"/>
                </a:solidFill>
                <a:latin typeface="Noto Sans SC"/>
                <a:ea typeface="Noto Sans SC"/>
              </a:rPr>
              <a:t>▪ </a:t>
            </a:r>
            <a:r>
              <a:rPr sz="1250" b="1" lang="zh-CN">
                <a:solidFill>
                  <a:srgbClr val="1A1A2E"/>
                </a:solidFill>
                <a:latin typeface="Noto Sans SC"/>
                <a:ea typeface="Noto Sans SC"/>
              </a:rPr>
              <a:t>标签均衡：</a:t>
            </a:r>
            <a:r>
              <a:rPr sz="1250" b="0" lang="zh-CN">
                <a:solidFill>
                  <a:srgbClr val="5A5A6E"/>
                </a:solidFill>
                <a:latin typeface="Noto Sans SC"/>
                <a:ea typeface="Noto Sans SC"/>
              </a:rPr>
              <a:t>三类占比约 29.5% / 35.5% / 35.0%，分布近似均衡。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 lang="zh-CN">
                <a:solidFill>
                  <a:srgbClr val="2B4C9B"/>
                </a:solidFill>
                <a:latin typeface="Noto Sans SC"/>
                <a:ea typeface="Noto Sans SC"/>
              </a:rPr>
              <a:t>▪ </a:t>
            </a:r>
            <a:r>
              <a:rPr sz="1250" b="1" lang="zh-CN">
                <a:solidFill>
                  <a:srgbClr val="1A1A2E"/>
                </a:solidFill>
                <a:latin typeface="Noto Sans SC"/>
                <a:ea typeface="Noto Sans SC"/>
              </a:rPr>
              <a:t>跨集稳定：</a:t>
            </a:r>
            <a:r>
              <a:rPr sz="1250" b="0" lang="zh-CN">
                <a:solidFill>
                  <a:srgbClr val="5A5A6E"/>
                </a:solidFill>
                <a:latin typeface="Noto Sans SC"/>
                <a:ea typeface="Noto Sans SC"/>
              </a:rPr>
              <a:t>训练、验证、测试集上类别比例几乎一致（偏差 &lt; 0.01%），划分无分布漂移。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 lang="zh-CN">
                <a:solidFill>
                  <a:srgbClr val="2B4C9B"/>
                </a:solidFill>
                <a:latin typeface="Noto Sans SC"/>
                <a:ea typeface="Noto Sans SC"/>
              </a:rPr>
              <a:t>▪ </a:t>
            </a:r>
            <a:r>
              <a:rPr sz="1250" b="1" lang="zh-CN">
                <a:solidFill>
                  <a:srgbClr val="1A1A2E"/>
                </a:solidFill>
                <a:latin typeface="Noto Sans SC"/>
                <a:ea typeface="Noto Sans SC"/>
              </a:rPr>
              <a:t>评估侧重：</a:t>
            </a:r>
            <a:r>
              <a:rPr sz="1250" b="0" lang="zh-CN">
                <a:solidFill>
                  <a:srgbClr val="5A5A6E"/>
                </a:solidFill>
                <a:latin typeface="Noto Sans SC"/>
                <a:ea typeface="Noto Sans SC"/>
              </a:rPr>
              <a:t>除整体 Accuracy 外，重点关注下跌类与拉伸类的识别能力（风险识别 + 机会捕捉）。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4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6012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 lang="zh-CN">
                <a:solidFill>
                  <a:srgbClr val="2B4C9B"/>
                </a:solidFill>
                <a:latin typeface="Noto Sans SC"/>
                <a:ea typeface="Noto Sans SC"/>
              </a:rPr>
              <a:t>TASK 1 · FEATURE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 lang="zh-CN">
                <a:solidFill>
                  <a:srgbClr val="1A1A2E"/>
                </a:solidFill>
                <a:latin typeface="Noto Sans SC"/>
                <a:ea typeface="Noto Sans SC"/>
              </a:rPr>
              <a:t>特征分析框架：从 33 通道到 264 维聚合特征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100" b="0" lang="zh-CN">
                <a:solidFill>
                  <a:srgbClr val="5A5A6E"/>
                </a:solidFill>
                <a:latin typeface="Noto Sans SC"/>
                <a:ea typeface="Noto Sans SC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11201400" cy="1051560"/>
          </a:xfrm>
          <a:prstGeom prst="roundRect">
            <a:avLst>
              <a:gd name="adj" fmla="val 9000"/>
            </a:avLst>
          </a:prstGeom>
          <a:solidFill>
            <a:srgbClr val="EA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17904"/>
            <a:ext cx="1069848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1" lang="zh-CN">
                <a:solidFill>
                  <a:srgbClr val="2B4C9B"/>
                </a:solidFill>
                <a:latin typeface="Noto Sans SC"/>
                <a:ea typeface="Noto Sans SC"/>
              </a:rPr>
              <a:t>60 步 × 33 通道序列</a:t>
            </a:r>
            <a:r>
              <a:rPr sz="1350" b="0" lang="zh-CN">
                <a:solidFill>
                  <a:srgbClr val="1A1A2E"/>
                </a:solidFill>
                <a:latin typeface="Noto Sans SC"/>
                <a:ea typeface="Noto Sans SC"/>
              </a:rPr>
              <a:t>  →  每通道提取 8 种统计量（mean / std / min / max / first / last / delta / slope）</a:t>
            </a:r>
            <a:r>
              <a:rPr sz="1350" b="1" lang="zh-CN">
                <a:solidFill>
                  <a:srgbClr val="2B4C9B"/>
                </a:solidFill>
                <a:latin typeface="Noto Sans SC"/>
                <a:ea typeface="Noto Sans SC"/>
              </a:rPr>
              <a:t>  →  264 维聚合特征向量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697480"/>
            <a:ext cx="5349240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0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697480"/>
            <a:ext cx="82296" cy="1691640"/>
          </a:xfrm>
          <a:prstGeom prst="rect">
            <a:avLst/>
          </a:prstGeom>
          <a:solidFill>
            <a:srgbClr val="2B4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843784"/>
            <a:ext cx="4846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50" b="1" lang="zh-CN">
                <a:solidFill>
                  <a:srgbClr val="2B4C9B"/>
                </a:solidFill>
                <a:latin typeface="Noto Sans SC"/>
                <a:ea typeface="Noto Sans SC"/>
              </a:rPr>
              <a:t>相关性分析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64408"/>
            <a:ext cx="489204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lang="zh-CN">
                <a:solidFill>
                  <a:srgbClr val="5A5A6E"/>
                </a:solidFill>
                <a:latin typeface="Noto Sans SC"/>
                <a:ea typeface="Noto Sans SC"/>
              </a:rPr>
              <a:t>计算 264 维特征间 Pearson 相关系数，识别共线性与冗余结构，剔除高相关特征。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2697480"/>
            <a:ext cx="5349240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0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2697480"/>
            <a:ext cx="82296" cy="1691640"/>
          </a:xfrm>
          <a:prstGeom prst="rect">
            <a:avLst/>
          </a:prstGeom>
          <a:solidFill>
            <a:srgbClr val="2B4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2843784"/>
            <a:ext cx="4846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50" b="1" lang="zh-CN">
                <a:solidFill>
                  <a:srgbClr val="2B4C9B"/>
                </a:solidFill>
                <a:latin typeface="Noto Sans SC"/>
                <a:ea typeface="Noto Sans SC"/>
              </a:rPr>
              <a:t>特征重要性评估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264408"/>
            <a:ext cx="489204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lang="zh-CN">
                <a:solidFill>
                  <a:srgbClr val="5A5A6E"/>
                </a:solidFill>
                <a:latin typeface="Noto Sans SC"/>
                <a:ea typeface="Noto Sans SC"/>
              </a:rPr>
              <a:t>ANOVA F 检验、随机森林重要性、互信息（MI）三种口径交叉验证，定位判别力最强的通道。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572000"/>
            <a:ext cx="5349240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0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4572000"/>
            <a:ext cx="82296" cy="1691640"/>
          </a:xfrm>
          <a:prstGeom prst="rect">
            <a:avLst/>
          </a:prstGeom>
          <a:solidFill>
            <a:srgbClr val="2B4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718304"/>
            <a:ext cx="4846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50" b="1" lang="zh-CN">
                <a:solidFill>
                  <a:srgbClr val="2B4C9B"/>
                </a:solidFill>
                <a:latin typeface="Noto Sans SC"/>
                <a:ea typeface="Noto Sans SC"/>
              </a:rPr>
              <a:t>聚类分析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138928"/>
            <a:ext cx="489204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lang="zh-CN">
                <a:solidFill>
                  <a:srgbClr val="5A5A6E"/>
                </a:solidFill>
                <a:latin typeface="Noto Sans SC"/>
                <a:ea typeface="Noto Sans SC"/>
              </a:rPr>
              <a:t>K-Means 对样本聚类，以 ARI / NMI / 纯度衡量聚类结构与已知标签的关联。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4572000"/>
            <a:ext cx="5349240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0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4572000"/>
            <a:ext cx="82296" cy="1691640"/>
          </a:xfrm>
          <a:prstGeom prst="rect">
            <a:avLst/>
          </a:prstGeom>
          <a:solidFill>
            <a:srgbClr val="2B4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4718304"/>
            <a:ext cx="4846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50" b="1" lang="zh-CN">
                <a:solidFill>
                  <a:srgbClr val="2B4C9B"/>
                </a:solidFill>
                <a:latin typeface="Noto Sans SC"/>
                <a:ea typeface="Noto Sans SC"/>
              </a:rPr>
              <a:t>分布与结构可视化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5138928"/>
            <a:ext cx="489204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lang="zh-CN">
                <a:solidFill>
                  <a:srgbClr val="5A5A6E"/>
                </a:solidFill>
                <a:latin typeface="Noto Sans SC"/>
                <a:ea typeface="Noto Sans SC"/>
              </a:rPr>
              <a:t>PCA 降维观察三类样本的可分性，辅助判断任务难度。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4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6012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 lang="zh-CN">
                <a:solidFill>
                  <a:srgbClr val="2B4C9B"/>
                </a:solidFill>
                <a:latin typeface="Noto Sans SC"/>
                <a:ea typeface="Noto Sans SC"/>
              </a:rPr>
              <a:t>TASK 1 · FEATURE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 lang="zh-CN">
                <a:solidFill>
                  <a:srgbClr val="1A1A2E"/>
                </a:solidFill>
                <a:latin typeface="Noto Sans SC"/>
                <a:ea typeface="Noto Sans SC"/>
              </a:rPr>
              <a:t>相关性分析：剔除冗余，保留低相关特征子集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100" b="0" lang="zh-CN">
                <a:solidFill>
                  <a:srgbClr val="5A5A6E"/>
                </a:solidFill>
                <a:latin typeface="Noto Sans SC"/>
                <a:ea typeface="Noto Sans SC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6126480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0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eature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72768"/>
            <a:ext cx="5669280" cy="489348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903720" y="1371600"/>
            <a:ext cx="4800600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0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78040" y="1572768"/>
            <a:ext cx="4297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 lang="zh-CN">
                <a:solidFill>
                  <a:srgbClr val="2B4C9B"/>
                </a:solidFill>
                <a:latin typeface="Noto Sans SC"/>
                <a:ea typeface="Noto Sans SC"/>
              </a:rPr>
              <a:t>主要发现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2011680"/>
            <a:ext cx="4343400" cy="4297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 lang="zh-CN">
                <a:solidFill>
                  <a:srgbClr val="2B4C9B"/>
                </a:solidFill>
                <a:latin typeface="Noto Sans SC"/>
                <a:ea typeface="Noto Sans SC"/>
              </a:rPr>
              <a:t>▪ </a:t>
            </a:r>
            <a:r>
              <a:rPr sz="1250" b="1" lang="zh-CN">
                <a:solidFill>
                  <a:srgbClr val="1A1A2E"/>
                </a:solidFill>
                <a:latin typeface="Noto Sans SC"/>
                <a:ea typeface="Noto Sans SC"/>
              </a:rPr>
              <a:t>强冗余存在：</a:t>
            </a:r>
            <a:r>
              <a:rPr sz="1250" b="0" lang="zh-CN">
                <a:solidFill>
                  <a:srgbClr val="5A5A6E"/>
                </a:solidFill>
                <a:latin typeface="Noto Sans SC"/>
                <a:ea typeface="Noto Sans SC"/>
              </a:rPr>
              <a:t>部分特征对 |r| 接近 1，如 first_ch03 与 delta_ch03（r = -1.0）、mean_ch09 与 mean_ch10（r ≈ 0.99998）。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 lang="zh-CN">
                <a:solidFill>
                  <a:srgbClr val="2B4C9B"/>
                </a:solidFill>
                <a:latin typeface="Noto Sans SC"/>
                <a:ea typeface="Noto Sans SC"/>
              </a:rPr>
              <a:t>▪ </a:t>
            </a:r>
            <a:r>
              <a:rPr sz="1250" b="1" lang="zh-CN">
                <a:solidFill>
                  <a:srgbClr val="1A1A2E"/>
                </a:solidFill>
                <a:latin typeface="Noto Sans SC"/>
                <a:ea typeface="Noto Sans SC"/>
              </a:rPr>
              <a:t>量价通道同源：</a:t>
            </a:r>
            <a:r>
              <a:rPr sz="1250" b="0" lang="zh-CN">
                <a:solidFill>
                  <a:srgbClr val="5A5A6E"/>
                </a:solidFill>
                <a:latin typeface="Noto Sans SC"/>
                <a:ea typeface="Noto Sans SC"/>
              </a:rPr>
              <a:t>mean/slope 类统计量在价格相关通道（ch00/ch02/ch03、ch09/ch10）间高度共线。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 lang="zh-CN">
                <a:solidFill>
                  <a:srgbClr val="2B4C9B"/>
                </a:solidFill>
                <a:latin typeface="Noto Sans SC"/>
                <a:ea typeface="Noto Sans SC"/>
              </a:rPr>
              <a:t>▪ </a:t>
            </a:r>
            <a:r>
              <a:rPr sz="1250" b="1" lang="zh-CN">
                <a:solidFill>
                  <a:srgbClr val="1A1A2E"/>
                </a:solidFill>
                <a:latin typeface="Noto Sans SC"/>
                <a:ea typeface="Noto Sans SC"/>
              </a:rPr>
              <a:t>筛选规则：</a:t>
            </a:r>
            <a:r>
              <a:rPr sz="1250" b="0" lang="zh-CN">
                <a:solidFill>
                  <a:srgbClr val="5A5A6E"/>
                </a:solidFill>
                <a:latin typeface="Noto Sans SC"/>
                <a:ea typeface="Noto Sans SC"/>
              </a:rPr>
              <a:t>以 |r| &gt; 0.95 为阈值执行剔除，共删除 14 个冗余特征，保留 120 维低相关特征子集。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 lang="zh-CN">
                <a:solidFill>
                  <a:srgbClr val="2B4C9B"/>
                </a:solidFill>
                <a:latin typeface="Noto Sans SC"/>
                <a:ea typeface="Noto Sans SC"/>
              </a:rPr>
              <a:t>▪ </a:t>
            </a:r>
            <a:r>
              <a:rPr sz="1250" b="1" lang="zh-CN">
                <a:solidFill>
                  <a:srgbClr val="1A1A2E"/>
                </a:solidFill>
                <a:latin typeface="Noto Sans SC"/>
                <a:ea typeface="Noto Sans SC"/>
              </a:rPr>
              <a:t>结论：</a:t>
            </a:r>
            <a:r>
              <a:rPr sz="1250" b="0" lang="zh-CN">
                <a:solidFill>
                  <a:srgbClr val="5A5A6E"/>
                </a:solidFill>
                <a:latin typeface="Noto Sans SC"/>
                <a:ea typeface="Noto Sans SC"/>
              </a:rPr>
              <a:t>原始特征存在明显冗余，但冗余集中于同源量价变换；低相关子集为后续重要性评估提供更干净的输入。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4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6012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 lang="zh-CN">
                <a:solidFill>
                  <a:srgbClr val="2B4C9B"/>
                </a:solidFill>
                <a:latin typeface="Noto Sans SC"/>
                <a:ea typeface="Noto Sans SC"/>
              </a:rPr>
              <a:t>TASK 1 · FEATURE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 lang="zh-CN">
                <a:solidFill>
                  <a:srgbClr val="1A1A2E"/>
                </a:solidFill>
                <a:latin typeface="Noto Sans SC"/>
                <a:ea typeface="Noto Sans SC"/>
              </a:rPr>
              <a:t>特征重要性：三种方法交叉定位关键通道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100" b="0" lang="zh-CN">
                <a:solidFill>
                  <a:srgbClr val="5A5A6E"/>
                </a:solidFill>
                <a:latin typeface="Noto Sans SC"/>
                <a:ea typeface="Noto Sans SC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361188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0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op_anova_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481328"/>
            <a:ext cx="3392424" cy="296837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5047488"/>
            <a:ext cx="36118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250" b="1" lang="zh-CN">
                <a:solidFill>
                  <a:srgbClr val="1A1A2E"/>
                </a:solidFill>
                <a:latin typeface="Noto Sans SC"/>
                <a:ea typeface="Noto Sans SC"/>
              </a:rPr>
              <a:t>ANOVA F 值 Top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371600"/>
            <a:ext cx="361188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0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op_random_forest_featu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416" y="1481328"/>
            <a:ext cx="3392424" cy="296837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361688" y="5047488"/>
            <a:ext cx="36118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250" b="1" lang="zh-CN">
                <a:solidFill>
                  <a:srgbClr val="1A1A2E"/>
                </a:solidFill>
                <a:latin typeface="Noto Sans SC"/>
                <a:ea typeface="Noto Sans SC"/>
              </a:rPr>
              <a:t>随机森林重要性 Top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0456" y="1371600"/>
            <a:ext cx="361188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0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top_mutual_info_featur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0183" y="1481328"/>
            <a:ext cx="3392424" cy="296837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20456" y="5047488"/>
            <a:ext cx="36118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250" b="1" lang="zh-CN">
                <a:solidFill>
                  <a:srgbClr val="1A1A2E"/>
                </a:solidFill>
                <a:latin typeface="Noto Sans SC"/>
                <a:ea typeface="Noto Sans SC"/>
              </a:rPr>
              <a:t>互信息 Top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486400"/>
            <a:ext cx="11201400" cy="1051560"/>
          </a:xfrm>
          <a:prstGeom prst="roundRect">
            <a:avLst>
              <a:gd name="adj" fmla="val 9000"/>
            </a:avLst>
          </a:prstGeom>
          <a:solidFill>
            <a:srgbClr val="EA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596128"/>
            <a:ext cx="1069848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1" lang="zh-CN">
                <a:solidFill>
                  <a:srgbClr val="2B4C9B"/>
                </a:solidFill>
                <a:latin typeface="Noto Sans SC"/>
                <a:ea typeface="Noto Sans SC"/>
              </a:rPr>
              <a:t>交叉结论：</a:t>
            </a:r>
            <a:r>
              <a:rPr sz="1250" b="0" lang="zh-CN">
                <a:solidFill>
                  <a:srgbClr val="1A1A2E"/>
                </a:solidFill>
                <a:latin typeface="Noto Sans SC"/>
                <a:ea typeface="Noto Sans SC"/>
              </a:rPr>
              <a:t>ANOVA 指向 ch16 / ch28 / ch19 / ch12（波动率与极值统计量，F &gt; 1000）；随机森林与互信息一致指向 ch31 / ch32（含 first/last/slope 时序统计量）。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1" lang="zh-CN">
                <a:solidFill>
                  <a:srgbClr val="C44E52"/>
                </a:solidFill>
                <a:latin typeface="Noto Sans SC"/>
                <a:ea typeface="Noto Sans SC"/>
              </a:rPr>
              <a:t>关键特征通道：ch12 · ch16 · ch19 · ch28 · ch31 · ch32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4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6012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 lang="zh-CN">
                <a:solidFill>
                  <a:srgbClr val="2B4C9B"/>
                </a:solidFill>
                <a:latin typeface="Noto Sans SC"/>
                <a:ea typeface="Noto Sans SC"/>
              </a:rPr>
              <a:t>TASK 1 · FEATURE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 lang="zh-CN">
                <a:solidFill>
                  <a:srgbClr val="1A1A2E"/>
                </a:solidFill>
                <a:latin typeface="Noto Sans SC"/>
                <a:ea typeface="Noto Sans SC"/>
              </a:rPr>
              <a:t>聚类分析（一）：k=2…12 全指标对比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100" b="0" lang="zh-CN">
                <a:solidFill>
                  <a:srgbClr val="5A5A6E"/>
                </a:solidFill>
                <a:latin typeface="Noto Sans SC"/>
                <a:ea typeface="Noto Sans SC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6126480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0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600200"/>
          <a:ext cx="5669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234440"/>
                <a:gridCol w="1005840"/>
                <a:gridCol w="868680"/>
                <a:gridCol w="868680"/>
                <a:gridCol w="1051560"/>
              </a:tblGrid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150" b="1" lang="zh-CN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</a:rPr>
                        <a:t>k</a:t>
                      </a:r>
                    </a:p>
                  </a:txBody>
                  <a:tcPr marL="63500" marR="63500" marT="25400" marB="25400" anchor="ctr">
                    <a:solidFill>
                      <a:srgbClr val="2B4C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lang="zh-CN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</a:rPr>
                        <a:t>Inertia</a:t>
                      </a:r>
                    </a:p>
                  </a:txBody>
                  <a:tcPr marL="63500" marR="63500" marT="25400" marB="25400" anchor="ctr">
                    <a:solidFill>
                      <a:srgbClr val="2B4C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lang="zh-CN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</a:rPr>
                        <a:t>轮廓系数</a:t>
                      </a:r>
                    </a:p>
                  </a:txBody>
                  <a:tcPr marL="63500" marR="63500" marT="25400" marB="25400" anchor="ctr">
                    <a:solidFill>
                      <a:srgbClr val="2B4C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lang="zh-CN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</a:rPr>
                        <a:t>ARI</a:t>
                      </a:r>
                    </a:p>
                  </a:txBody>
                  <a:tcPr marL="63500" marR="63500" marT="25400" marB="25400" anchor="ctr">
                    <a:solidFill>
                      <a:srgbClr val="2B4C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lang="zh-CN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</a:rPr>
                        <a:t>NMI</a:t>
                      </a:r>
                    </a:p>
                  </a:txBody>
                  <a:tcPr marL="63500" marR="63500" marT="25400" marB="25400" anchor="ctr">
                    <a:solidFill>
                      <a:srgbClr val="2B4C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lang="zh-CN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</a:rPr>
                        <a:t>纯度</a:t>
                      </a:r>
                    </a:p>
                  </a:txBody>
                  <a:tcPr marL="63500" marR="63500" marT="25400" marB="25400" anchor="ctr">
                    <a:solidFill>
                      <a:srgbClr val="2B4C9B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05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6,125,990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0.0701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0.0006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0.0004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0.3585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05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3</a:t>
                      </a:r>
                    </a:p>
                  </a:txBody>
                  <a:tcPr marL="63500" marR="63500" marT="25400" marB="25400" anchor="ctr"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5,869,633</a:t>
                      </a:r>
                    </a:p>
                  </a:txBody>
                  <a:tcPr marL="63500" marR="63500" marT="25400" marB="25400" anchor="ctr"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0.0594</a:t>
                      </a:r>
                    </a:p>
                  </a:txBody>
                  <a:tcPr marL="63500" marR="63500" marT="25400" marB="25400" anchor="ctr"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0.0001</a:t>
                      </a:r>
                    </a:p>
                  </a:txBody>
                  <a:tcPr marL="63500" marR="63500" marT="25400" marB="25400" anchor="ctr"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0.0004</a:t>
                      </a:r>
                    </a:p>
                  </a:txBody>
                  <a:tcPr marL="63500" marR="63500" marT="25400" marB="25400" anchor="ctr"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0.3585</a:t>
                      </a:r>
                    </a:p>
                  </a:txBody>
                  <a:tcPr marL="63500" marR="63500" marT="25400" marB="25400" anchor="ctr">
                    <a:solidFill>
                      <a:srgbClr val="F1F3F9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05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5,669,974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0.0567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0.0003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0.0006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0.3622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05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5</a:t>
                      </a:r>
                    </a:p>
                  </a:txBody>
                  <a:tcPr marL="63500" marR="63500" marT="25400" marB="25400" anchor="ctr"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5,536,997</a:t>
                      </a:r>
                    </a:p>
                  </a:txBody>
                  <a:tcPr marL="63500" marR="63500" marT="25400" marB="25400" anchor="ctr"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0.0487</a:t>
                      </a:r>
                    </a:p>
                  </a:txBody>
                  <a:tcPr marL="63500" marR="63500" marT="25400" marB="25400" anchor="ctr"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0.0026</a:t>
                      </a:r>
                    </a:p>
                  </a:txBody>
                  <a:tcPr marL="63500" marR="63500" marT="25400" marB="25400" anchor="ctr"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0.0029</a:t>
                      </a:r>
                    </a:p>
                  </a:txBody>
                  <a:tcPr marL="63500" marR="63500" marT="25400" marB="25400" anchor="ctr"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0.3847</a:t>
                      </a:r>
                    </a:p>
                  </a:txBody>
                  <a:tcPr marL="63500" marR="63500" marT="25400" marB="25400" anchor="ctr">
                    <a:solidFill>
                      <a:srgbClr val="F1F3F9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05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5,421,459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0.0455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0.0021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0.0030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0.3808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05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7</a:t>
                      </a:r>
                    </a:p>
                  </a:txBody>
                  <a:tcPr marL="63500" marR="63500" marT="25400" marB="25400" anchor="ctr"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5,337,708</a:t>
                      </a:r>
                    </a:p>
                  </a:txBody>
                  <a:tcPr marL="63500" marR="63500" marT="25400" marB="25400" anchor="ctr"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0.0415</a:t>
                      </a:r>
                    </a:p>
                  </a:txBody>
                  <a:tcPr marL="63500" marR="63500" marT="25400" marB="25400" anchor="ctr"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0.0016</a:t>
                      </a:r>
                    </a:p>
                  </a:txBody>
                  <a:tcPr marL="63500" marR="63500" marT="25400" marB="25400" anchor="ctr"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0.0024</a:t>
                      </a:r>
                    </a:p>
                  </a:txBody>
                  <a:tcPr marL="63500" marR="63500" marT="25400" marB="25400" anchor="ctr"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0.3773</a:t>
                      </a:r>
                    </a:p>
                  </a:txBody>
                  <a:tcPr marL="63500" marR="63500" marT="25400" marB="25400" anchor="ctr">
                    <a:solidFill>
                      <a:srgbClr val="F1F3F9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05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5,262,749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0.0418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0.0018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0.0025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0.3785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05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5,193,969</a:t>
                      </a:r>
                    </a:p>
                  </a:txBody>
                  <a:tcPr marL="63500" marR="63500" marT="25400" marB="25400" anchor="ctr"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0.0247</a:t>
                      </a:r>
                    </a:p>
                  </a:txBody>
                  <a:tcPr marL="63500" marR="63500" marT="25400" marB="25400" anchor="ctr"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0.0038</a:t>
                      </a:r>
                    </a:p>
                  </a:txBody>
                  <a:tcPr marL="63500" marR="63500" marT="25400" marB="25400" anchor="ctr"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0.0051</a:t>
                      </a:r>
                    </a:p>
                  </a:txBody>
                  <a:tcPr marL="63500" marR="63500" marT="25400" marB="25400" anchor="ctr"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0.3854</a:t>
                      </a:r>
                    </a:p>
                  </a:txBody>
                  <a:tcPr marL="63500" marR="63500" marT="25400" marB="25400" anchor="ctr">
                    <a:solidFill>
                      <a:srgbClr val="F1F3F9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05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5,121,453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0.0243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0.0037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0.0051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0.3854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05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5,067,508</a:t>
                      </a:r>
                    </a:p>
                  </a:txBody>
                  <a:tcPr marL="63500" marR="63500" marT="25400" marB="25400" anchor="ctr"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0.0251</a:t>
                      </a:r>
                    </a:p>
                  </a:txBody>
                  <a:tcPr marL="63500" marR="63500" marT="25400" marB="25400" anchor="ctr"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0.0037</a:t>
                      </a:r>
                    </a:p>
                  </a:txBody>
                  <a:tcPr marL="63500" marR="63500" marT="25400" marB="25400" anchor="ctr"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0.0050</a:t>
                      </a:r>
                    </a:p>
                  </a:txBody>
                  <a:tcPr marL="63500" marR="63500" marT="25400" marB="25400" anchor="ctr"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0.3887</a:t>
                      </a:r>
                    </a:p>
                  </a:txBody>
                  <a:tcPr marL="63500" marR="63500" marT="25400" marB="25400" anchor="ctr">
                    <a:solidFill>
                      <a:srgbClr val="F1F3F9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05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12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5,020,669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0.0246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0.0035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0.0049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0.3891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5943600"/>
            <a:ext cx="56692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 lang="zh-CN">
                <a:solidFill>
                  <a:srgbClr val="5A5A6E"/>
                </a:solidFill>
                <a:latin typeface="Noto Sans SC"/>
                <a:ea typeface="Noto Sans SC"/>
              </a:rPr>
              <a:t>K-Means 于 264 维聚合特征（训练集），多数类基线纯度 = 0.3550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1371600"/>
            <a:ext cx="4800600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0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78040" y="1572768"/>
            <a:ext cx="4297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 lang="zh-CN">
                <a:solidFill>
                  <a:srgbClr val="2B4C9B"/>
                </a:solidFill>
                <a:latin typeface="Noto Sans SC"/>
                <a:ea typeface="Noto Sans SC"/>
              </a:rPr>
              <a:t>指标解读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2011680"/>
            <a:ext cx="4343400" cy="4297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 lang="zh-CN">
                <a:solidFill>
                  <a:srgbClr val="2B4C9B"/>
                </a:solidFill>
                <a:latin typeface="Noto Sans SC"/>
                <a:ea typeface="Noto Sans SC"/>
              </a:rPr>
              <a:t>▪ </a:t>
            </a:r>
            <a:r>
              <a:rPr sz="1250" b="1" lang="zh-CN">
                <a:solidFill>
                  <a:srgbClr val="1A1A2E"/>
                </a:solidFill>
                <a:latin typeface="Noto Sans SC"/>
                <a:ea typeface="Noto Sans SC"/>
              </a:rPr>
              <a:t>轮廓系数：</a:t>
            </a:r>
            <a:r>
              <a:rPr sz="1250" b="0" lang="zh-CN">
                <a:solidFill>
                  <a:srgbClr val="5A5A6E"/>
                </a:solidFill>
                <a:latin typeface="Noto Sans SC"/>
                <a:ea typeface="Noto Sans SC"/>
              </a:rPr>
              <a:t>k=2 最高也仅 0.070，且随 k 增大持续衰减，簇间几乎没有分离。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 lang="zh-CN">
                <a:solidFill>
                  <a:srgbClr val="2B4C9B"/>
                </a:solidFill>
                <a:latin typeface="Noto Sans SC"/>
                <a:ea typeface="Noto Sans SC"/>
              </a:rPr>
              <a:t>▪ </a:t>
            </a:r>
            <a:r>
              <a:rPr sz="1250" b="1" lang="zh-CN">
                <a:solidFill>
                  <a:srgbClr val="1A1A2E"/>
                </a:solidFill>
                <a:latin typeface="Noto Sans SC"/>
                <a:ea typeface="Noto Sans SC"/>
              </a:rPr>
              <a:t>ARI / NMI：</a:t>
            </a:r>
            <a:r>
              <a:rPr sz="1250" b="0" lang="zh-CN">
                <a:solidFill>
                  <a:srgbClr val="5A5A6E"/>
                </a:solidFill>
                <a:latin typeface="Noto Sans SC"/>
                <a:ea typeface="Noto Sans SC"/>
              </a:rPr>
              <a:t>全部 ≤ 0.004 / ≤ 0.005，与随机划分几乎无差异，聚类结构与真实标签基本无关。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 lang="zh-CN">
                <a:solidFill>
                  <a:srgbClr val="2B4C9B"/>
                </a:solidFill>
                <a:latin typeface="Noto Sans SC"/>
                <a:ea typeface="Noto Sans SC"/>
              </a:rPr>
              <a:t>▪ </a:t>
            </a:r>
            <a:r>
              <a:rPr sz="1250" b="1" lang="zh-CN">
                <a:solidFill>
                  <a:srgbClr val="1A1A2E"/>
                </a:solidFill>
                <a:latin typeface="Noto Sans SC"/>
                <a:ea typeface="Noto Sans SC"/>
              </a:rPr>
              <a:t>纯度：</a:t>
            </a:r>
            <a:r>
              <a:rPr sz="1250" b="0" lang="zh-CN">
                <a:solidFill>
                  <a:srgbClr val="5A5A6E"/>
                </a:solidFill>
                <a:latin typeface="Noto Sans SC"/>
                <a:ea typeface="Noto Sans SC"/>
              </a:rPr>
              <a:t>最优 k=12 时 0.3891，相对多数类基线 0.3550 仅提升约 3.4 个百分点。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 lang="zh-CN">
                <a:solidFill>
                  <a:srgbClr val="2B4C9B"/>
                </a:solidFill>
                <a:latin typeface="Noto Sans SC"/>
                <a:ea typeface="Noto Sans SC"/>
              </a:rPr>
              <a:t>▪ </a:t>
            </a:r>
            <a:r>
              <a:rPr sz="1250" b="1" lang="zh-CN">
                <a:solidFill>
                  <a:srgbClr val="1A1A2E"/>
                </a:solidFill>
                <a:latin typeface="Noto Sans SC"/>
                <a:ea typeface="Noto Sans SC"/>
              </a:rPr>
              <a:t>对比结论：</a:t>
            </a:r>
            <a:r>
              <a:rPr sz="1250" b="0" lang="zh-CN">
                <a:solidFill>
                  <a:srgbClr val="5A5A6E"/>
                </a:solidFill>
                <a:latin typeface="Noto Sans SC"/>
                <a:ea typeface="Noto Sans SC"/>
              </a:rPr>
              <a:t>没有任何一个 k 同时获得合理的轮廓系数与标签一致性——无监督簇 ≠ 三分类标签。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4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6012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 lang="zh-CN">
                <a:solidFill>
                  <a:srgbClr val="2B4C9B"/>
                </a:solidFill>
                <a:latin typeface="Noto Sans SC"/>
                <a:ea typeface="Noto Sans SC"/>
              </a:rPr>
              <a:t>TASK 1 · FEATURE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 lang="zh-CN">
                <a:solidFill>
                  <a:srgbClr val="1A1A2E"/>
                </a:solidFill>
                <a:latin typeface="Noto Sans SC"/>
                <a:ea typeface="Noto Sans SC"/>
              </a:rPr>
              <a:t>聚类分析（二）：k 值选择——肘部法与轮廓系数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100" b="0" lang="zh-CN">
                <a:solidFill>
                  <a:srgbClr val="5A5A6E"/>
                </a:solidFill>
                <a:latin typeface="Noto Sans SC"/>
                <a:ea typeface="Noto Sans SC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548640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0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kmeans_elbow_pca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36192"/>
            <a:ext cx="5120640" cy="350359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5321808"/>
            <a:ext cx="5486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250" b="1" lang="zh-CN">
                <a:solidFill>
                  <a:srgbClr val="1A1A2E"/>
                </a:solidFill>
                <a:latin typeface="Noto Sans SC"/>
                <a:ea typeface="Noto Sans SC"/>
              </a:rPr>
              <a:t>肘部法（PCA-20 降维后 Inertia）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48640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0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ilhouette_by_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536192"/>
            <a:ext cx="5120640" cy="35035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17920" y="5321808"/>
            <a:ext cx="5486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250" b="1" lang="zh-CN">
                <a:solidFill>
                  <a:srgbClr val="1A1A2E"/>
                </a:solidFill>
                <a:latin typeface="Noto Sans SC"/>
                <a:ea typeface="Noto Sans SC"/>
              </a:rPr>
              <a:t>轮廓系数随 k 变化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760720"/>
            <a:ext cx="11201400" cy="822960"/>
          </a:xfrm>
          <a:prstGeom prst="roundRect">
            <a:avLst>
              <a:gd name="adj" fmla="val 9000"/>
            </a:avLst>
          </a:prstGeom>
          <a:solidFill>
            <a:srgbClr val="EA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870448"/>
            <a:ext cx="1069848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 lang="zh-CN">
                <a:solidFill>
                  <a:srgbClr val="1A1A2E"/>
                </a:solidFill>
                <a:latin typeface="Noto Sans SC"/>
                <a:ea typeface="Noto Sans SC"/>
              </a:rPr>
              <a:t>肘部曲线平滑下降、无明确拐点；轮廓系数在 k=2 后单调衰减。</a:t>
            </a:r>
            <a:r>
              <a:rPr sz="1250" b="1" lang="zh-CN">
                <a:solidFill>
                  <a:srgbClr val="2B4C9B"/>
                </a:solidFill>
                <a:latin typeface="Noto Sans SC"/>
                <a:ea typeface="Noto Sans SC"/>
              </a:rPr>
              <a:t>两种标准 k 值选择方法均找不到“自然的簇数”，说明数据内部不存在稳定的簇结构。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4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6012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 lang="zh-CN">
                <a:solidFill>
                  <a:srgbClr val="2B4C9B"/>
                </a:solidFill>
                <a:latin typeface="Noto Sans SC"/>
                <a:ea typeface="Noto Sans SC"/>
              </a:rPr>
              <a:t>TASK 1 · FEATURE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 lang="zh-CN">
                <a:solidFill>
                  <a:srgbClr val="1A1A2E"/>
                </a:solidFill>
                <a:latin typeface="Noto Sans SC"/>
                <a:ea typeface="Noto Sans SC"/>
              </a:rPr>
              <a:t>聚类分析（三）：不同 k 的聚类结果可视化对比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100" b="0" lang="zh-CN">
                <a:solidFill>
                  <a:srgbClr val="5A5A6E"/>
                </a:solidFill>
                <a:latin typeface="Noto Sans SC"/>
                <a:ea typeface="Noto Sans SC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361188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0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kmeans_pca_k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1481328"/>
            <a:ext cx="3026664" cy="237809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4681728"/>
            <a:ext cx="36118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200" b="1" lang="zh-CN">
                <a:solidFill>
                  <a:srgbClr val="1A1A2E"/>
                </a:solidFill>
                <a:latin typeface="Noto Sans SC"/>
                <a:ea typeface="Noto Sans SC"/>
              </a:rPr>
              <a:t>k = 3（PCA 二维投影，颜色=簇）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371600"/>
            <a:ext cx="361188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0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kmeans_pca_k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296" y="1481328"/>
            <a:ext cx="3026664" cy="237809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361688" y="4681728"/>
            <a:ext cx="36118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200" b="1" lang="zh-CN">
                <a:solidFill>
                  <a:srgbClr val="1A1A2E"/>
                </a:solidFill>
                <a:latin typeface="Noto Sans SC"/>
                <a:ea typeface="Noto Sans SC"/>
              </a:rPr>
              <a:t>k = 5（PCA 二维投影，颜色=簇）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0456" y="1371600"/>
            <a:ext cx="361188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0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kmeans_pca_k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3064" y="1481328"/>
            <a:ext cx="3026664" cy="237809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20456" y="4681728"/>
            <a:ext cx="36118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200" b="1" lang="zh-CN">
                <a:solidFill>
                  <a:srgbClr val="1A1A2E"/>
                </a:solidFill>
                <a:latin typeface="Noto Sans SC"/>
                <a:ea typeface="Noto Sans SC"/>
              </a:rPr>
              <a:t>k = 12（PCA 二维投影，颜色=簇）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074920"/>
            <a:ext cx="548640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212080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1" lang="zh-CN">
                <a:solidFill>
                  <a:srgbClr val="2B4C9B"/>
                </a:solidFill>
                <a:latin typeface="Noto Sans SC"/>
                <a:ea typeface="Noto Sans SC"/>
              </a:rPr>
              <a:t>最优簇组成（轮廓系数最优 k=2）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596128"/>
            <a:ext cx="5029200" cy="868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 lang="zh-CN">
                <a:solidFill>
                  <a:srgbClr val="5A5A6E"/>
                </a:solidFill>
                <a:latin typeface="Noto Sans SC"/>
                <a:ea typeface="Noto Sans SC"/>
              </a:rPr>
              <a:t>簇0（12,033 样本）：拉伸 35.3% / 震荡 34.1% / 下跌 30.6%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 lang="zh-CN">
                <a:solidFill>
                  <a:srgbClr val="5A5A6E"/>
                </a:solidFill>
                <a:latin typeface="Noto Sans SC"/>
                <a:ea typeface="Noto Sans SC"/>
              </a:rPr>
              <a:t>簇1（12,967 样本）：震荡 36.4% / 拉伸 35.3% / 下跌 28.3%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1" lang="zh-CN">
                <a:solidFill>
                  <a:srgbClr val="1A1A2E"/>
                </a:solidFill>
                <a:latin typeface="Noto Sans SC"/>
                <a:ea typeface="Noto Sans SC"/>
              </a:rPr>
              <a:t>两簇的三类比例都接近总体分布，簇不具备类别辨识度。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5074920"/>
            <a:ext cx="5486400" cy="1463040"/>
          </a:xfrm>
          <a:prstGeom prst="roundRect">
            <a:avLst>
              <a:gd name="adj" fmla="val 6000"/>
            </a:avLst>
          </a:prstGeom>
          <a:solidFill>
            <a:srgbClr val="EA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5230368"/>
            <a:ext cx="5029200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1" lang="zh-CN">
                <a:solidFill>
                  <a:srgbClr val="2B4C9B"/>
                </a:solidFill>
                <a:latin typeface="Noto Sans SC"/>
                <a:ea typeface="Noto Sans SC"/>
              </a:rPr>
              <a:t>可视化结论：</a:t>
            </a:r>
            <a:r>
              <a:rPr sz="1200" b="0" lang="zh-CN">
                <a:solidFill>
                  <a:srgbClr val="1A1A2E"/>
                </a:solidFill>
                <a:latin typeface="Noto Sans SC"/>
                <a:ea typeface="Noto Sans SC"/>
              </a:rPr>
              <a:t>无论 k=3、5 还是 12，各簇在 PCA 空间中都高度重叠、边界模糊，与按标签着色的分布形态一致——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 lang="zh-CN">
                <a:solidFill>
                  <a:srgbClr val="C44E52"/>
                </a:solidFill>
                <a:latin typeface="Noto Sans SC"/>
                <a:ea typeface="Noto Sans SC"/>
              </a:rPr>
              <a:t>聚类只能探索样本近邻结构，不能替代标签；监督学习是必要的。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4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6012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 lang="zh-CN">
                <a:solidFill>
                  <a:srgbClr val="2B4C9B"/>
                </a:solidFill>
                <a:latin typeface="Noto Sans SC"/>
                <a:ea typeface="Noto Sans SC"/>
              </a:rPr>
              <a:t>TASK 2 · CLASSIFICATION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 lang="zh-CN">
                <a:solidFill>
                  <a:srgbClr val="1A1A2E"/>
                </a:solidFill>
                <a:latin typeface="Noto Sans SC"/>
                <a:ea typeface="Noto Sans SC"/>
              </a:rPr>
              <a:t>模型与训练设置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100" b="0" lang="zh-CN">
                <a:solidFill>
                  <a:srgbClr val="5A5A6E"/>
                </a:solidFill>
                <a:latin typeface="Noto Sans SC"/>
                <a:ea typeface="Noto Sans SC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3611880" cy="4937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3611880" cy="109728"/>
          </a:xfrm>
          <a:prstGeom prst="rect">
            <a:avLst/>
          </a:prstGeom>
          <a:solidFill>
            <a:srgbClr val="2B4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320040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 lang="zh-CN">
                <a:solidFill>
                  <a:srgbClr val="2B4C9B"/>
                </a:solidFill>
                <a:latin typeface="Noto Sans SC"/>
                <a:ea typeface="Noto Sans SC"/>
              </a:rPr>
              <a:t>模型选择（≥2 种序列模型）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3200400" cy="2011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00" b="1" lang="zh-CN">
                <a:solidFill>
                  <a:srgbClr val="2B4C9B"/>
                </a:solidFill>
                <a:latin typeface="Noto Sans SC"/>
                <a:ea typeface="Noto Sans SC"/>
              </a:rPr>
              <a:t>▪ </a:t>
            </a:r>
            <a:r>
              <a:rPr sz="1250" b="0" lang="zh-CN">
                <a:solidFill>
                  <a:srgbClr val="1A1A2E"/>
                </a:solidFill>
                <a:latin typeface="Noto Sans SC"/>
                <a:ea typeface="Noto Sans SC"/>
              </a:rPr>
              <a:t>LSTM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00" b="1" lang="zh-CN">
                <a:solidFill>
                  <a:srgbClr val="2B4C9B"/>
                </a:solidFill>
                <a:latin typeface="Noto Sans SC"/>
                <a:ea typeface="Noto Sans SC"/>
              </a:rPr>
              <a:t>▪ </a:t>
            </a:r>
            <a:r>
              <a:rPr sz="1250" b="0" lang="zh-CN">
                <a:solidFill>
                  <a:srgbClr val="1A1A2E"/>
                </a:solidFill>
                <a:latin typeface="Noto Sans SC"/>
                <a:ea typeface="Noto Sans SC"/>
              </a:rPr>
              <a:t>GRU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00" b="1" lang="zh-CN">
                <a:solidFill>
                  <a:srgbClr val="2B4C9B"/>
                </a:solidFill>
                <a:latin typeface="Noto Sans SC"/>
                <a:ea typeface="Noto Sans SC"/>
              </a:rPr>
              <a:t>▪ </a:t>
            </a:r>
            <a:r>
              <a:rPr sz="1250" b="0" lang="zh-CN">
                <a:solidFill>
                  <a:srgbClr val="1A1A2E"/>
                </a:solidFill>
                <a:latin typeface="Noto Sans SC"/>
                <a:ea typeface="Noto Sans SC"/>
              </a:rPr>
              <a:t>TCN（时序卷积网络）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26280"/>
            <a:ext cx="3154680" cy="1645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 lang="zh-CN">
                <a:solidFill>
                  <a:srgbClr val="5A5A6E"/>
                </a:solidFill>
                <a:latin typeface="Noto Sans SC"/>
                <a:ea typeface="Noto Sans SC"/>
              </a:rPr>
              <a:t>均为端到端 PyTorch 实现，输入 60 步 × 33 维序列。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1417320"/>
            <a:ext cx="3611880" cy="4937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61688" y="1417320"/>
            <a:ext cx="3611880" cy="109728"/>
          </a:xfrm>
          <a:prstGeom prst="rect">
            <a:avLst/>
          </a:prstGeom>
          <a:solidFill>
            <a:srgbClr val="2B4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691640"/>
            <a:ext cx="320040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 lang="zh-CN">
                <a:solidFill>
                  <a:srgbClr val="2B4C9B"/>
                </a:solidFill>
                <a:latin typeface="Noto Sans SC"/>
                <a:ea typeface="Noto Sans SC"/>
              </a:rPr>
              <a:t>超参数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468880"/>
            <a:ext cx="3200400" cy="2011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00" b="1" lang="zh-CN">
                <a:solidFill>
                  <a:srgbClr val="2B4C9B"/>
                </a:solidFill>
                <a:latin typeface="Noto Sans SC"/>
                <a:ea typeface="Noto Sans SC"/>
              </a:rPr>
              <a:t>▪ </a:t>
            </a:r>
            <a:r>
              <a:rPr sz="1250" b="0" lang="zh-CN">
                <a:solidFill>
                  <a:srgbClr val="1A1A2E"/>
                </a:solidFill>
                <a:latin typeface="Noto Sans SC"/>
                <a:ea typeface="Noto Sans SC"/>
              </a:rPr>
              <a:t>hidden_size = 64，num_layers = 1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00" b="1" lang="zh-CN">
                <a:solidFill>
                  <a:srgbClr val="2B4C9B"/>
                </a:solidFill>
                <a:latin typeface="Noto Sans SC"/>
                <a:ea typeface="Noto Sans SC"/>
              </a:rPr>
              <a:t>▪ </a:t>
            </a:r>
            <a:r>
              <a:rPr sz="1250" b="0" lang="zh-CN">
                <a:solidFill>
                  <a:srgbClr val="1A1A2E"/>
                </a:solidFill>
                <a:latin typeface="Noto Sans SC"/>
                <a:ea typeface="Noto Sans SC"/>
              </a:rPr>
              <a:t>batch_size = 1024，dropout = 0.15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00" b="1" lang="zh-CN">
                <a:solidFill>
                  <a:srgbClr val="2B4C9B"/>
                </a:solidFill>
                <a:latin typeface="Noto Sans SC"/>
                <a:ea typeface="Noto Sans SC"/>
              </a:rPr>
              <a:t>▪ </a:t>
            </a:r>
            <a:r>
              <a:rPr sz="1250" b="0" lang="zh-CN">
                <a:solidFill>
                  <a:srgbClr val="1A1A2E"/>
                </a:solidFill>
                <a:latin typeface="Noto Sans SC"/>
                <a:ea typeface="Noto Sans SC"/>
              </a:rPr>
              <a:t>weight_decay = 1e-4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4526280"/>
            <a:ext cx="3154680" cy="1645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 lang="zh-CN">
                <a:solidFill>
                  <a:srgbClr val="5A5A6E"/>
                </a:solidFill>
                <a:latin typeface="Noto Sans SC"/>
                <a:ea typeface="Noto Sans SC"/>
              </a:rPr>
              <a:t>每种模型 × 两组学习率：lr = 0.001 / 0.0005，epochs = 20，共 6 组实验。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0456" y="1417320"/>
            <a:ext cx="3611880" cy="4937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0456" y="1417320"/>
            <a:ext cx="3611880" cy="109728"/>
          </a:xfrm>
          <a:prstGeom prst="rect">
            <a:avLst/>
          </a:prstGeom>
          <a:solidFill>
            <a:srgbClr val="2B4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49056" y="1691640"/>
            <a:ext cx="320040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 lang="zh-CN">
                <a:solidFill>
                  <a:srgbClr val="2B4C9B"/>
                </a:solidFill>
                <a:latin typeface="Noto Sans SC"/>
                <a:ea typeface="Noto Sans SC"/>
              </a:rPr>
              <a:t>训练策略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6" y="2468880"/>
            <a:ext cx="3200400" cy="2011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00" b="1" lang="zh-CN">
                <a:solidFill>
                  <a:srgbClr val="2B4C9B"/>
                </a:solidFill>
                <a:latin typeface="Noto Sans SC"/>
                <a:ea typeface="Noto Sans SC"/>
              </a:rPr>
              <a:t>▪ </a:t>
            </a:r>
            <a:r>
              <a:rPr sz="1250" b="0" lang="zh-CN">
                <a:solidFill>
                  <a:srgbClr val="1A1A2E"/>
                </a:solidFill>
                <a:latin typeface="Noto Sans SC"/>
                <a:ea typeface="Noto Sans SC"/>
              </a:rPr>
              <a:t>损失：带类别权重的 CrossEntropyLoss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00" b="1" lang="zh-CN">
                <a:solidFill>
                  <a:srgbClr val="2B4C9B"/>
                </a:solidFill>
                <a:latin typeface="Noto Sans SC"/>
                <a:ea typeface="Noto Sans SC"/>
              </a:rPr>
              <a:t>▪ </a:t>
            </a:r>
            <a:r>
              <a:rPr sz="1250" b="0" lang="zh-CN">
                <a:solidFill>
                  <a:srgbClr val="1A1A2E"/>
                </a:solidFill>
                <a:latin typeface="Noto Sans SC"/>
                <a:ea typeface="Noto Sans SC"/>
              </a:rPr>
              <a:t>优化器：AdamW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00" b="1" lang="zh-CN">
                <a:solidFill>
                  <a:srgbClr val="2B4C9B"/>
                </a:solidFill>
                <a:latin typeface="Noto Sans SC"/>
                <a:ea typeface="Noto Sans SC"/>
              </a:rPr>
              <a:t>▪ </a:t>
            </a:r>
            <a:r>
              <a:rPr sz="1250" b="0" lang="zh-CN">
                <a:solidFill>
                  <a:srgbClr val="1A1A2E"/>
                </a:solidFill>
                <a:latin typeface="Noto Sans SC"/>
                <a:ea typeface="Noto Sans SC"/>
              </a:rPr>
              <a:t>调度：CosineAnnealingLR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9056" y="4526280"/>
            <a:ext cx="3154680" cy="1645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 lang="zh-CN">
                <a:solidFill>
                  <a:srgbClr val="5A5A6E"/>
                </a:solidFill>
                <a:latin typeface="Noto Sans SC"/>
                <a:ea typeface="Noto Sans SC"/>
              </a:rPr>
              <a:t>以验证集 focus_macro_f1（下跌类与拉伸类 F1 均值）为最佳模型选择标准。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4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6012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 lang="zh-CN">
                <a:solidFill>
                  <a:srgbClr val="2B4C9B"/>
                </a:solidFill>
                <a:latin typeface="Noto Sans SC"/>
                <a:ea typeface="Noto Sans SC"/>
              </a:rPr>
              <a:t>TASK 2 · CLASSIFICATION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 lang="zh-CN">
                <a:solidFill>
                  <a:srgbClr val="1A1A2E"/>
                </a:solidFill>
                <a:latin typeface="Noto Sans SC"/>
                <a:ea typeface="Noto Sans SC"/>
              </a:rPr>
              <a:t>六组配置测试集对比：GRU 整体最优，TCN 重点类别最优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100" b="0" lang="zh-CN">
                <a:solidFill>
                  <a:srgbClr val="5A5A6E"/>
                </a:solidFill>
                <a:latin typeface="Noto Sans SC"/>
                <a:ea typeface="Noto Sans SC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6492240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0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645920"/>
          <a:ext cx="60350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822960"/>
                <a:gridCol w="822960"/>
                <a:gridCol w="822960"/>
                <a:gridCol w="822960"/>
                <a:gridCol w="822960"/>
              </a:tblGrid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150" b="1" lang="zh-CN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</a:rPr>
                        <a:t>模型配置</a:t>
                      </a:r>
                    </a:p>
                  </a:txBody>
                  <a:tcPr marL="63500" marR="63500" marT="25400" marB="25400" anchor="ctr">
                    <a:solidFill>
                      <a:srgbClr val="2B4C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lang="zh-CN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</a:rPr>
                        <a:t>Accuracy</a:t>
                      </a:r>
                    </a:p>
                  </a:txBody>
                  <a:tcPr marL="63500" marR="63500" marT="25400" marB="25400" anchor="ctr">
                    <a:solidFill>
                      <a:srgbClr val="2B4C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lang="zh-CN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</a:rPr>
                        <a:t>Macro F1</a:t>
                      </a:r>
                    </a:p>
                  </a:txBody>
                  <a:tcPr marL="63500" marR="63500" marT="25400" marB="25400" anchor="ctr">
                    <a:solidFill>
                      <a:srgbClr val="2B4C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lang="zh-CN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</a:rPr>
                        <a:t>Focus F1</a:t>
                      </a:r>
                    </a:p>
                  </a:txBody>
                  <a:tcPr marL="63500" marR="63500" marT="25400" marB="25400" anchor="ctr">
                    <a:solidFill>
                      <a:srgbClr val="2B4C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lang="zh-CN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</a:rPr>
                        <a:t>F1 下跌</a:t>
                      </a:r>
                    </a:p>
                  </a:txBody>
                  <a:tcPr marL="63500" marR="63500" marT="25400" marB="25400" anchor="ctr">
                    <a:solidFill>
                      <a:srgbClr val="2B4C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lang="zh-CN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</a:rPr>
                        <a:t>F1 拉伸</a:t>
                      </a:r>
                    </a:p>
                  </a:txBody>
                  <a:tcPr marL="63500" marR="63500" marT="25400" marB="25400" anchor="ctr">
                    <a:solidFill>
                      <a:srgbClr val="2B4C9B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10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LSTM  lr=0.001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0.4839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0.4825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0.4600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0.4864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0.4335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10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LSTM  lr=0.0005</a:t>
                      </a:r>
                    </a:p>
                  </a:txBody>
                  <a:tcPr marL="63500" marR="63500" marT="25400" marB="25400" anchor="ctr"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0.4638</a:t>
                      </a:r>
                    </a:p>
                  </a:txBody>
                  <a:tcPr marL="63500" marR="63500" marT="25400" marB="25400" anchor="ctr"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0.4597</a:t>
                      </a:r>
                    </a:p>
                  </a:txBody>
                  <a:tcPr marL="63500" marR="63500" marT="25400" marB="25400" anchor="ctr"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0.4285</a:t>
                      </a:r>
                    </a:p>
                  </a:txBody>
                  <a:tcPr marL="63500" marR="63500" marT="25400" marB="25400" anchor="ctr"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0.4710</a:t>
                      </a:r>
                    </a:p>
                  </a:txBody>
                  <a:tcPr marL="63500" marR="63500" marT="25400" marB="25400" anchor="ctr"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0.3860</a:t>
                      </a:r>
                    </a:p>
                  </a:txBody>
                  <a:tcPr marL="63500" marR="63500" marT="25400" marB="25400" anchor="ctr">
                    <a:solidFill>
                      <a:srgbClr val="F1F3F9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10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GRU   lr=0.001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0.5115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0.5097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0.4895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0.5288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0.4502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10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GRU   lr=0.0005</a:t>
                      </a:r>
                    </a:p>
                  </a:txBody>
                  <a:tcPr marL="63500" marR="63500" marT="25400" marB="25400" anchor="ctr"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0.4639</a:t>
                      </a:r>
                    </a:p>
                  </a:txBody>
                  <a:tcPr marL="63500" marR="63500" marT="25400" marB="25400" anchor="ctr"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0.4564</a:t>
                      </a:r>
                    </a:p>
                  </a:txBody>
                  <a:tcPr marL="63500" marR="63500" marT="25400" marB="25400" anchor="ctr"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0.4167</a:t>
                      </a:r>
                    </a:p>
                  </a:txBody>
                  <a:tcPr marL="63500" marR="63500" marT="25400" marB="25400" anchor="ctr"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0.4751</a:t>
                      </a:r>
                    </a:p>
                  </a:txBody>
                  <a:tcPr marL="63500" marR="63500" marT="25400" marB="25400" anchor="ctr"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0.3584</a:t>
                      </a:r>
                    </a:p>
                  </a:txBody>
                  <a:tcPr marL="63500" marR="63500" marT="25400" marB="25400" anchor="ctr">
                    <a:solidFill>
                      <a:srgbClr val="F1F3F9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10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TCN   lr=0.001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0.5024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0.5019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0.4995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0.5266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0.4724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 algn="l"/>
                      <a:r>
                        <a:rPr sz="110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TCN   lr=0.0005</a:t>
                      </a:r>
                    </a:p>
                  </a:txBody>
                  <a:tcPr marL="63500" marR="63500" marT="25400" marB="25400" anchor="ctr"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0.4721</a:t>
                      </a:r>
                    </a:p>
                  </a:txBody>
                  <a:tcPr marL="63500" marR="63500" marT="25400" marB="25400" anchor="ctr"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0.4717</a:t>
                      </a:r>
                    </a:p>
                  </a:txBody>
                  <a:tcPr marL="63500" marR="63500" marT="25400" marB="25400" anchor="ctr"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0.4575</a:t>
                      </a:r>
                    </a:p>
                  </a:txBody>
                  <a:tcPr marL="63500" marR="63500" marT="25400" marB="25400" anchor="ctr"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0.4787</a:t>
                      </a:r>
                    </a:p>
                  </a:txBody>
                  <a:tcPr marL="63500" marR="63500" marT="25400" marB="25400" anchor="ctr"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0.4364</a:t>
                      </a:r>
                    </a:p>
                  </a:txBody>
                  <a:tcPr marL="63500" marR="63500" marT="25400" marB="25400" anchor="ctr">
                    <a:solidFill>
                      <a:srgbClr val="F1F3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5166360"/>
            <a:ext cx="6035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50" b="1" lang="zh-CN">
                <a:solidFill>
                  <a:srgbClr val="C44E52"/>
                </a:solidFill>
                <a:latin typeface="Noto Sans SC"/>
                <a:ea typeface="Noto Sans SC"/>
              </a:rPr>
              <a:t>✓ 最佳模型：TCN lr=0.001</a:t>
            </a:r>
            <a:r>
              <a:rPr sz="1200" b="0" lang="zh-CN">
                <a:solidFill>
                  <a:srgbClr val="5A5A6E"/>
                </a:solidFill>
                <a:latin typeface="Noto Sans SC"/>
                <a:ea typeface="Noto Sans SC"/>
              </a:rPr>
              <a:t>（验证集 Focus F1 最高 0.4999）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lang="zh-CN">
                <a:solidFill>
                  <a:srgbClr val="5A5A6E"/>
                </a:solidFill>
                <a:latin typeface="Noto Sans SC"/>
                <a:ea typeface="Noto Sans SC"/>
              </a:rPr>
              <a:t>GRU 的 Accuracy / Macro F1 略高，但 TCN 对重点关注的下跌 / 拉伸两类 F1 更优。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80" y="1371600"/>
            <a:ext cx="4434840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0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odel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572768"/>
            <a:ext cx="4160520" cy="196118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69480" y="5806440"/>
            <a:ext cx="4434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00" b="0" lang="zh-CN">
                <a:solidFill>
                  <a:srgbClr val="5A5A6E"/>
                </a:solidFill>
                <a:latin typeface="Noto Sans SC"/>
                <a:ea typeface="Noto Sans SC"/>
              </a:rPr>
              <a:t>全部配置均显著高于 0.333 随机基线；lr=0.001 一致优于 lr=0.0005。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4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6012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 lang="zh-CN">
                <a:solidFill>
                  <a:srgbClr val="2B4C9B"/>
                </a:solidFill>
                <a:latin typeface="Noto Sans SC"/>
                <a:ea typeface="Noto Sans SC"/>
              </a:rPr>
              <a:t>TASK 2 · CLASSIFICATION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 lang="zh-CN">
                <a:solidFill>
                  <a:srgbClr val="1A1A2E"/>
                </a:solidFill>
                <a:latin typeface="Noto Sans SC"/>
                <a:ea typeface="Noto Sans SC"/>
              </a:rPr>
              <a:t>训练过程：稳定收敛，无明显过拟合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100" b="0" lang="zh-CN">
                <a:solidFill>
                  <a:srgbClr val="5A5A6E"/>
                </a:solidFill>
                <a:latin typeface="Noto Sans SC"/>
                <a:ea typeface="Noto Sans SC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361188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0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earning_curves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481328"/>
            <a:ext cx="3392424" cy="20354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5349240"/>
            <a:ext cx="36118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250" b="1" lang="zh-CN">
                <a:solidFill>
                  <a:srgbClr val="1A1A2E"/>
                </a:solidFill>
                <a:latin typeface="Noto Sans SC"/>
                <a:ea typeface="Noto Sans SC"/>
              </a:rPr>
              <a:t>训练 / 验证损失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371600"/>
            <a:ext cx="361188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0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earning_curves_val_focus_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416" y="1481328"/>
            <a:ext cx="3392424" cy="203545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361688" y="5349240"/>
            <a:ext cx="36118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250" b="1" lang="zh-CN">
                <a:solidFill>
                  <a:srgbClr val="1A1A2E"/>
                </a:solidFill>
                <a:latin typeface="Noto Sans SC"/>
                <a:ea typeface="Noto Sans SC"/>
              </a:rPr>
              <a:t>验证集 Focus F1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0456" y="1371600"/>
            <a:ext cx="361188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0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learning_curves_focus_class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0183" y="1481328"/>
            <a:ext cx="3392424" cy="203545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20456" y="5349240"/>
            <a:ext cx="36118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250" b="1" lang="zh-CN">
                <a:solidFill>
                  <a:srgbClr val="1A1A2E"/>
                </a:solidFill>
                <a:latin typeface="Noto Sans SC"/>
                <a:ea typeface="Noto Sans SC"/>
              </a:rPr>
              <a:t>重点类别 F1 逐轮对比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760720"/>
            <a:ext cx="11201400" cy="822960"/>
          </a:xfrm>
          <a:prstGeom prst="roundRect">
            <a:avLst>
              <a:gd name="adj" fmla="val 9000"/>
            </a:avLst>
          </a:prstGeom>
          <a:solidFill>
            <a:srgbClr val="EA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870448"/>
            <a:ext cx="1069848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 lang="zh-CN">
                <a:solidFill>
                  <a:srgbClr val="1A1A2E"/>
                </a:solidFill>
                <a:latin typeface="Noto Sans SC"/>
                <a:ea typeface="Noto Sans SC"/>
              </a:rPr>
              <a:t>训练损失与验证损失稳步下降，Accuracy 与 F1 持续提升；</a:t>
            </a:r>
            <a:r>
              <a:rPr sz="1250" b="0" lang="zh-CN">
                <a:solidFill>
                  <a:srgbClr val="5A5A6E"/>
                </a:solidFill>
                <a:latin typeface="Noto Sans SC"/>
                <a:ea typeface="Noto Sans SC"/>
              </a:rPr>
              <a:t>各配置 best→last 指标变化 ≤ 0.005，学习曲线分析未触发过拟合提示；TCN lr=0.001 在第 18 轮达到验证集 Focus F1 峰值 0.4999。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4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6012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 lang="zh-CN">
                <a:solidFill>
                  <a:srgbClr val="2B4C9B"/>
                </a:solidFill>
                <a:latin typeface="Noto Sans SC"/>
                <a:ea typeface="Noto Sans SC"/>
              </a:rPr>
              <a:t>TASK 2 · CLASSIFICATION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 lang="zh-CN">
                <a:solidFill>
                  <a:srgbClr val="1A1A2E"/>
                </a:solidFill>
                <a:latin typeface="Noto Sans SC"/>
                <a:ea typeface="Noto Sans SC"/>
              </a:rPr>
              <a:t>最佳模型评估：TCN（lr=0.001, epochs=20）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100" b="0" lang="zh-CN">
                <a:solidFill>
                  <a:srgbClr val="5A5A6E"/>
                </a:solidFill>
                <a:latin typeface="Noto Sans SC"/>
                <a:ea typeface="Noto Sans SC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5120640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0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54480"/>
            <a:ext cx="45720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 lang="zh-CN">
                <a:solidFill>
                  <a:srgbClr val="2B4C9B"/>
                </a:solidFill>
                <a:latin typeface="Noto Sans SC"/>
                <a:ea typeface="Noto Sans SC"/>
              </a:rPr>
              <a:t>测试集混淆矩阵</a:t>
            </a:r>
          </a:p>
        </p:txBody>
      </p:sp>
      <p:pic>
        <p:nvPicPr>
          <p:cNvPr id="9" name="Picture 8" descr="confusion_matrix_b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65960"/>
            <a:ext cx="4389120" cy="368119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897880" y="1371600"/>
            <a:ext cx="580644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0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1554480"/>
            <a:ext cx="53035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 lang="zh-CN">
                <a:solidFill>
                  <a:srgbClr val="2B4C9B"/>
                </a:solidFill>
                <a:latin typeface="Noto Sans SC"/>
                <a:ea typeface="Noto Sans SC"/>
              </a:rPr>
              <a:t>测试集分类报告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72200" y="1965960"/>
          <a:ext cx="52578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051560"/>
                <a:gridCol w="1051560"/>
                <a:gridCol w="1051560"/>
                <a:gridCol w="868680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 lang="zh-CN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</a:rPr>
                        <a:t>类别</a:t>
                      </a:r>
                    </a:p>
                  </a:txBody>
                  <a:tcPr marL="63500" marR="63500" marT="25400" marB="25400" anchor="ctr">
                    <a:solidFill>
                      <a:srgbClr val="2B4C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lang="zh-CN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</a:rPr>
                        <a:t>Precision</a:t>
                      </a:r>
                    </a:p>
                  </a:txBody>
                  <a:tcPr marL="63500" marR="63500" marT="25400" marB="25400" anchor="ctr">
                    <a:solidFill>
                      <a:srgbClr val="2B4C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lang="zh-CN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</a:rPr>
                        <a:t>Recall</a:t>
                      </a:r>
                    </a:p>
                  </a:txBody>
                  <a:tcPr marL="63500" marR="63500" marT="25400" marB="25400" anchor="ctr">
                    <a:solidFill>
                      <a:srgbClr val="2B4C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lang="zh-CN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</a:rPr>
                        <a:t>F1</a:t>
                      </a:r>
                    </a:p>
                  </a:txBody>
                  <a:tcPr marL="63500" marR="63500" marT="25400" marB="25400" anchor="ctr">
                    <a:solidFill>
                      <a:srgbClr val="2B4C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lang="zh-CN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</a:rPr>
                        <a:t>Support</a:t>
                      </a:r>
                    </a:p>
                  </a:txBody>
                  <a:tcPr marL="63500" marR="63500" marT="25400" marB="25400" anchor="ctr">
                    <a:solidFill>
                      <a:srgbClr val="2B4C9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下跌类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0.4584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0.6185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0.5266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6299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震荡类</a:t>
                      </a:r>
                    </a:p>
                  </a:txBody>
                  <a:tcPr marL="63500" marR="63500" marT="25400" marB="25400" anchor="ctr"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0.5534</a:t>
                      </a:r>
                    </a:p>
                  </a:txBody>
                  <a:tcPr marL="63500" marR="63500" marT="25400" marB="25400" anchor="ctr"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0.4673</a:t>
                      </a:r>
                    </a:p>
                  </a:txBody>
                  <a:tcPr marL="63500" marR="63500" marT="25400" marB="25400" anchor="ctr"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0.5067</a:t>
                      </a:r>
                    </a:p>
                  </a:txBody>
                  <a:tcPr marL="63500" marR="63500" marT="25400" marB="25400" anchor="ctr"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7573</a:t>
                      </a:r>
                    </a:p>
                  </a:txBody>
                  <a:tcPr marL="63500" marR="63500" marT="25400" marB="25400" anchor="ctr">
                    <a:solidFill>
                      <a:srgbClr val="F1F3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拉伸类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0.5099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0.4401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0.4724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7458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整体</a:t>
                      </a:r>
                    </a:p>
                  </a:txBody>
                  <a:tcPr marL="63500" marR="63500" marT="25400" marB="25400" anchor="ctr"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Acc 0.5024</a:t>
                      </a:r>
                    </a:p>
                  </a:txBody>
                  <a:tcPr marL="63500" marR="63500" marT="25400" marB="25400" anchor="ctr"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Macro F1 0.5019</a:t>
                      </a:r>
                    </a:p>
                  </a:txBody>
                  <a:tcPr marL="63500" marR="63500" marT="25400" marB="25400" anchor="ctr"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Focus F1 0.4995</a:t>
                      </a:r>
                    </a:p>
                  </a:txBody>
                  <a:tcPr marL="63500" marR="63500" marT="25400" marB="25400" anchor="ctr"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lang="zh-CN">
                          <a:solidFill>
                            <a:srgbClr val="1A1A2E"/>
                          </a:solidFill>
                          <a:latin typeface="Noto Sans SC"/>
                          <a:ea typeface="Noto Sans SC"/>
                        </a:rPr>
                        <a:t>21330</a:t>
                      </a:r>
                    </a:p>
                  </a:txBody>
                  <a:tcPr marL="63500" marR="63500" marT="25400" marB="25400" anchor="ctr">
                    <a:solidFill>
                      <a:srgbClr val="F1F3F9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897880" y="4572000"/>
            <a:ext cx="5806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4754880"/>
            <a:ext cx="5303520" cy="1554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00" b="1" lang="zh-CN">
                <a:solidFill>
                  <a:srgbClr val="2B4C9B"/>
                </a:solidFill>
                <a:latin typeface="Noto Sans SC"/>
                <a:ea typeface="Noto Sans SC"/>
              </a:rPr>
              <a:t>▪ </a:t>
            </a:r>
            <a:r>
              <a:rPr sz="1200" b="1" lang="zh-CN">
                <a:solidFill>
                  <a:srgbClr val="1A1A2E"/>
                </a:solidFill>
                <a:latin typeface="Noto Sans SC"/>
                <a:ea typeface="Noto Sans SC"/>
              </a:rPr>
              <a:t>下跌类召回 0.62：</a:t>
            </a:r>
            <a:r>
              <a:rPr sz="1200" b="0" lang="zh-CN">
                <a:solidFill>
                  <a:srgbClr val="5A5A6E"/>
                </a:solidFill>
                <a:latin typeface="Noto Sans SC"/>
                <a:ea typeface="Noto Sans SC"/>
              </a:rPr>
              <a:t>风险样本找回能力较强，多数下跌被提前识别。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00" b="1" lang="zh-CN">
                <a:solidFill>
                  <a:srgbClr val="2B4C9B"/>
                </a:solidFill>
                <a:latin typeface="Noto Sans SC"/>
                <a:ea typeface="Noto Sans SC"/>
              </a:rPr>
              <a:t>▪ </a:t>
            </a:r>
            <a:r>
              <a:rPr sz="1200" b="1" lang="zh-CN">
                <a:solidFill>
                  <a:srgbClr val="1A1A2E"/>
                </a:solidFill>
                <a:latin typeface="Noto Sans SC"/>
                <a:ea typeface="Noto Sans SC"/>
              </a:rPr>
              <a:t>拉伸类召回 0.44：</a:t>
            </a:r>
            <a:r>
              <a:rPr sz="1200" b="0" lang="zh-CN">
                <a:solidFill>
                  <a:srgbClr val="5A5A6E"/>
                </a:solidFill>
                <a:latin typeface="Noto Sans SC"/>
                <a:ea typeface="Noto Sans SC"/>
              </a:rPr>
              <a:t>机会捕捉仍有提升空间，是后续优化方向。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00" b="1" lang="zh-CN">
                <a:solidFill>
                  <a:srgbClr val="2B4C9B"/>
                </a:solidFill>
                <a:latin typeface="Noto Sans SC"/>
                <a:ea typeface="Noto Sans SC"/>
              </a:rPr>
              <a:t>▪ </a:t>
            </a:r>
            <a:r>
              <a:rPr sz="1200" b="1" lang="zh-CN">
                <a:solidFill>
                  <a:srgbClr val="1A1A2E"/>
                </a:solidFill>
                <a:latin typeface="Noto Sans SC"/>
                <a:ea typeface="Noto Sans SC"/>
              </a:rPr>
              <a:t>主要误分：</a:t>
            </a:r>
            <a:r>
              <a:rPr sz="1200" b="0" lang="zh-CN">
                <a:solidFill>
                  <a:srgbClr val="5A5A6E"/>
                </a:solidFill>
                <a:latin typeface="Noto Sans SC"/>
                <a:ea typeface="Noto Sans SC"/>
              </a:rPr>
              <a:t>下跌↔拉伸互相误判（1312 / 2411 条），符合弱信号三分类任务的难度预期。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4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6012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 lang="zh-CN">
                <a:solidFill>
                  <a:srgbClr val="2B4C9B"/>
                </a:solidFill>
                <a:latin typeface="Noto Sans SC"/>
                <a:ea typeface="Noto Sans SC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 lang="zh-CN">
                <a:solidFill>
                  <a:srgbClr val="1A1A2E"/>
                </a:solidFill>
                <a:latin typeface="Noto Sans SC"/>
                <a:ea typeface="Noto Sans SC"/>
              </a:rPr>
              <a:t>结论与交付成果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100" b="0" lang="zh-CN">
                <a:solidFill>
                  <a:srgbClr val="5A5A6E"/>
                </a:solidFill>
                <a:latin typeface="Noto Sans SC"/>
                <a:ea typeface="Noto Sans SC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440680" cy="4937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4937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 lang="zh-CN">
                <a:solidFill>
                  <a:srgbClr val="2B4C9B"/>
                </a:solidFill>
                <a:latin typeface="Noto Sans SC"/>
                <a:ea typeface="Noto Sans SC"/>
              </a:rPr>
              <a:t>任务一 · 特征分析结论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4937760" cy="4114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50" b="1" lang="zh-CN">
                <a:solidFill>
                  <a:srgbClr val="2B4C9B"/>
                </a:solidFill>
                <a:latin typeface="Noto Sans SC"/>
                <a:ea typeface="Noto Sans SC"/>
              </a:rPr>
              <a:t>▪ </a:t>
            </a:r>
            <a:r>
              <a:rPr sz="1250" b="0" lang="zh-CN">
                <a:solidFill>
                  <a:srgbClr val="1A1A2E"/>
                </a:solidFill>
                <a:latin typeface="Noto Sans SC"/>
                <a:ea typeface="Noto Sans SC"/>
              </a:rPr>
              <a:t>三类标签分布均衡且跨集稳定，数据划分质量良好；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50" b="1" lang="zh-CN">
                <a:solidFill>
                  <a:srgbClr val="2B4C9B"/>
                </a:solidFill>
                <a:latin typeface="Noto Sans SC"/>
                <a:ea typeface="Noto Sans SC"/>
              </a:rPr>
              <a:t>▪ </a:t>
            </a:r>
            <a:r>
              <a:rPr sz="1250" b="0" lang="zh-CN">
                <a:solidFill>
                  <a:srgbClr val="1A1A2E"/>
                </a:solidFill>
                <a:latin typeface="Noto Sans SC"/>
                <a:ea typeface="Noto Sans SC"/>
              </a:rPr>
              <a:t>特征存在同源冗余，以 |r|&gt;0.95 剔除 14 维后保留 120 维低相关子集；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50" b="1" lang="zh-CN">
                <a:solidFill>
                  <a:srgbClr val="2B4C9B"/>
                </a:solidFill>
                <a:latin typeface="Noto Sans SC"/>
                <a:ea typeface="Noto Sans SC"/>
              </a:rPr>
              <a:t>▪ </a:t>
            </a:r>
            <a:r>
              <a:rPr sz="1250" b="0" lang="zh-CN">
                <a:solidFill>
                  <a:srgbClr val="1A1A2E"/>
                </a:solidFill>
                <a:latin typeface="Noto Sans SC"/>
                <a:ea typeface="Noto Sans SC"/>
              </a:rPr>
              <a:t>ANOVA / 随机森林 / 互信息交叉定位关键通道 ch12·16·19·28·31·32；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50" b="1" lang="zh-CN">
                <a:solidFill>
                  <a:srgbClr val="2B4C9B"/>
                </a:solidFill>
                <a:latin typeface="Noto Sans SC"/>
                <a:ea typeface="Noto Sans SC"/>
              </a:rPr>
              <a:t>▪ </a:t>
            </a:r>
            <a:r>
              <a:rPr sz="1250" b="0" lang="zh-CN">
                <a:solidFill>
                  <a:srgbClr val="1A1A2E"/>
                </a:solidFill>
                <a:latin typeface="Noto Sans SC"/>
                <a:ea typeface="Noto Sans SC"/>
              </a:rPr>
              <a:t>K-Means 与 PCA 表明无与标签对应的天然簇结构，样本弱可分，监督学习必要。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440680" cy="4937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00200"/>
            <a:ext cx="4937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 lang="zh-CN">
                <a:solidFill>
                  <a:srgbClr val="2B4C9B"/>
                </a:solidFill>
                <a:latin typeface="Noto Sans SC"/>
                <a:ea typeface="Noto Sans SC"/>
              </a:rPr>
              <a:t>任务二 · 模型训练结论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57400"/>
            <a:ext cx="4937760" cy="4114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50" b="1" lang="zh-CN">
                <a:solidFill>
                  <a:srgbClr val="2B4C9B"/>
                </a:solidFill>
                <a:latin typeface="Noto Sans SC"/>
                <a:ea typeface="Noto Sans SC"/>
              </a:rPr>
              <a:t>▪ </a:t>
            </a:r>
            <a:r>
              <a:rPr sz="1250" b="0" lang="zh-CN">
                <a:solidFill>
                  <a:srgbClr val="1A1A2E"/>
                </a:solidFill>
                <a:latin typeface="Noto Sans SC"/>
                <a:ea typeface="Noto Sans SC"/>
              </a:rPr>
              <a:t>完成 LSTM / GRU / TCN × 2 组学习率共 6 组对比实验；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50" b="1" lang="zh-CN">
                <a:solidFill>
                  <a:srgbClr val="2B4C9B"/>
                </a:solidFill>
                <a:latin typeface="Noto Sans SC"/>
                <a:ea typeface="Noto Sans SC"/>
              </a:rPr>
              <a:t>▪ </a:t>
            </a:r>
            <a:r>
              <a:rPr sz="1250" b="0" lang="zh-CN">
                <a:solidFill>
                  <a:srgbClr val="1A1A2E"/>
                </a:solidFill>
                <a:latin typeface="Noto Sans SC"/>
                <a:ea typeface="Noto Sans SC"/>
              </a:rPr>
              <a:t>最佳模型 TCN（lr=0.001）：Test Acc 0.5024，Macro F1 0.5019，Focus F1 0.4995；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50" b="1" lang="zh-CN">
                <a:solidFill>
                  <a:srgbClr val="2B4C9B"/>
                </a:solidFill>
                <a:latin typeface="Noto Sans SC"/>
                <a:ea typeface="Noto Sans SC"/>
              </a:rPr>
              <a:t>▪ </a:t>
            </a:r>
            <a:r>
              <a:rPr sz="1250" b="0" lang="zh-CN">
                <a:solidFill>
                  <a:srgbClr val="1A1A2E"/>
                </a:solidFill>
                <a:latin typeface="Noto Sans SC"/>
                <a:ea typeface="Noto Sans SC"/>
              </a:rPr>
              <a:t>下跌类召回 0.62，风险识别能力较强；拉伸类召回 0.44，仍需优化；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50" b="1" lang="zh-CN">
                <a:solidFill>
                  <a:srgbClr val="2B4C9B"/>
                </a:solidFill>
                <a:latin typeface="Noto Sans SC"/>
                <a:ea typeface="Noto Sans SC"/>
              </a:rPr>
              <a:t>▪ </a:t>
            </a:r>
            <a:r>
              <a:rPr sz="1250" b="0" lang="zh-CN">
                <a:solidFill>
                  <a:srgbClr val="1A1A2E"/>
                </a:solidFill>
                <a:latin typeface="Noto Sans SC"/>
                <a:ea typeface="Noto Sans SC"/>
              </a:rPr>
              <a:t>交付：模型代码、训练日志（training_log.csv）、评估报告与全部图表。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200" b="0" lang="zh-CN">
                <a:solidFill>
                  <a:srgbClr val="5A5A6E"/>
                </a:solidFill>
                <a:latin typeface="Noto Sans SC"/>
                <a:ea typeface="Noto Sans SC"/>
              </a:rPr>
              <a:t>下一步：接入真实 OHLC 数据，将最佳模型接入任务三的策略回测进行端到端验证。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